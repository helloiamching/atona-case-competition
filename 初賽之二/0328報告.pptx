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5" roundtripDataSignature="AMtx7mix7AaWzAVWbzI1iIp7EHC+peSc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3" name="Google Shape;2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989411" y="-136525"/>
            <a:ext cx="480879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" name="Google Shape;11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56836" y="-921506"/>
            <a:ext cx="8078327" cy="7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3400" y="7947003"/>
            <a:ext cx="7903323" cy="1867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94793" y="977781"/>
            <a:ext cx="1543265" cy="16956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1"/>
          <p:cNvGrpSpPr/>
          <p:nvPr/>
        </p:nvGrpSpPr>
        <p:grpSpPr>
          <a:xfrm>
            <a:off x="-2423161" y="185738"/>
            <a:ext cx="6918960" cy="369332"/>
            <a:chOff x="-243840" y="2875002"/>
            <a:chExt cx="6918960" cy="369332"/>
          </a:xfrm>
        </p:grpSpPr>
        <p:sp>
          <p:nvSpPr>
            <p:cNvPr id="15" name="Google Shape;15;p11"/>
            <p:cNvSpPr/>
            <p:nvPr/>
          </p:nvSpPr>
          <p:spPr>
            <a:xfrm>
              <a:off x="2370206" y="2875002"/>
              <a:ext cx="1690868" cy="369332"/>
            </a:xfrm>
            <a:prstGeom prst="parallelogram">
              <a:avLst>
                <a:gd fmla="val 25000" name="adj"/>
              </a:avLst>
            </a:prstGeom>
            <a:solidFill>
              <a:srgbClr val="D91F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1"/>
            <p:cNvSpPr txBox="1"/>
            <p:nvPr/>
          </p:nvSpPr>
          <p:spPr>
            <a:xfrm>
              <a:off x="-243840" y="2875002"/>
              <a:ext cx="6918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rgbClr val="FAF8EE"/>
                  </a:solidFill>
                  <a:latin typeface="Arial"/>
                  <a:ea typeface="Arial"/>
                  <a:cs typeface="Arial"/>
                  <a:sym typeface="Arial"/>
                </a:rPr>
                <a:t>｜光譜計畫｜</a:t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5.png"/><Relationship Id="rId13" Type="http://schemas.openxmlformats.org/officeDocument/2006/relationships/image" Target="../media/image17.jpg"/><Relationship Id="rId1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9" Type="http://schemas.openxmlformats.org/officeDocument/2006/relationships/image" Target="../media/image16.png"/><Relationship Id="rId15" Type="http://schemas.openxmlformats.org/officeDocument/2006/relationships/image" Target="../media/image21.png"/><Relationship Id="rId14" Type="http://schemas.openxmlformats.org/officeDocument/2006/relationships/image" Target="../media/image22.jpg"/><Relationship Id="rId17" Type="http://schemas.openxmlformats.org/officeDocument/2006/relationships/image" Target="../media/image26.png"/><Relationship Id="rId16" Type="http://schemas.openxmlformats.org/officeDocument/2006/relationships/image" Target="../media/image32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Relationship Id="rId7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-2118360" y="-533399"/>
            <a:ext cx="9616440" cy="7848600"/>
          </a:xfrm>
          <a:prstGeom prst="parallelogram">
            <a:avLst>
              <a:gd fmla="val 25000" name="adj"/>
            </a:avLst>
          </a:prstGeom>
          <a:solidFill>
            <a:srgbClr val="D91F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-243840" y="2875002"/>
            <a:ext cx="691896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600">
                <a:solidFill>
                  <a:srgbClr val="FAF8EE"/>
                </a:solidFill>
                <a:latin typeface="Arial"/>
                <a:ea typeface="Arial"/>
                <a:cs typeface="Arial"/>
                <a:sym typeface="Arial"/>
              </a:rPr>
              <a:t>｜光譜計畫｜</a:t>
            </a:r>
            <a:endParaRPr sz="6000">
              <a:solidFill>
                <a:srgbClr val="FAF8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7616258" y="2951947"/>
            <a:ext cx="326884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#讓保險在鄉鎮普及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#讓新光在地方轉型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030" y="6187573"/>
            <a:ext cx="1905756" cy="450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838200" y="360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目標族群分析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0" y="7032073"/>
            <a:ext cx="9082774" cy="135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zh-TW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平均收入較低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有</a:t>
            </a:r>
            <a:r>
              <a:rPr lang="zh-TW" sz="1800">
                <a:solidFill>
                  <a:srgbClr val="E71A0F"/>
                </a:solidFill>
                <a:latin typeface="Arial"/>
                <a:ea typeface="Arial"/>
                <a:cs typeface="Arial"/>
                <a:sym typeface="Arial"/>
              </a:rPr>
              <a:t>64%</a:t>
            </a:r>
            <a:r>
              <a:rPr lang="zh-TW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的人罹患至少一種慢性疾病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✦ 根據實地訪談與問卷調查多位偏鄉居民，他們取得保險資訊的主要通路為保險業務員，至於關注的保險商品，則是以壽險與</a:t>
            </a:r>
            <a:r>
              <a:rPr lang="zh-TW" sz="1800">
                <a:solidFill>
                  <a:srgbClr val="E61A0F"/>
                </a:solidFill>
                <a:latin typeface="Arial"/>
                <a:ea typeface="Arial"/>
                <a:cs typeface="Arial"/>
                <a:sym typeface="Arial"/>
              </a:rPr>
              <a:t>健康醫療險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為主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2491479" y="5798350"/>
            <a:ext cx="720904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（非六都且距離新光人壽服務據點平均車程超過30分鐘之地區）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1044795" y="1695477"/>
            <a:ext cx="2505185" cy="712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新光人壽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在</a:t>
            </a:r>
            <a:r>
              <a:rPr lang="zh-TW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非六都據點較少</a:t>
            </a:r>
            <a:endParaRPr sz="2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8194865" y="2427518"/>
            <a:ext cx="3067295" cy="103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50-65歲民眾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會使用網路主動搜尋知識的比例偏低（</a:t>
            </a:r>
            <a:r>
              <a:rPr lang="zh-TW" sz="2000">
                <a:solidFill>
                  <a:srgbClr val="E61A0F"/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）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3781385" y="1567271"/>
            <a:ext cx="4402001" cy="3422704"/>
            <a:chOff x="4393933" y="1311071"/>
            <a:chExt cx="3404134" cy="2646829"/>
          </a:xfrm>
        </p:grpSpPr>
        <p:sp>
          <p:nvSpPr>
            <p:cNvPr id="105" name="Google Shape;105;p2"/>
            <p:cNvSpPr/>
            <p:nvPr/>
          </p:nvSpPr>
          <p:spPr>
            <a:xfrm rot="5400000">
              <a:off x="5776739" y="3447494"/>
              <a:ext cx="628551" cy="39226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61A0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" name="Google Shape;106;p2"/>
            <p:cNvGrpSpPr/>
            <p:nvPr/>
          </p:nvGrpSpPr>
          <p:grpSpPr>
            <a:xfrm>
              <a:off x="4605043" y="1311071"/>
              <a:ext cx="2960193" cy="1962051"/>
              <a:chOff x="2872506" y="984231"/>
              <a:chExt cx="1801443" cy="1194018"/>
            </a:xfrm>
          </p:grpSpPr>
          <p:sp>
            <p:nvSpPr>
              <p:cNvPr id="107" name="Google Shape;107;p2"/>
              <p:cNvSpPr/>
              <p:nvPr/>
            </p:nvSpPr>
            <p:spPr>
              <a:xfrm>
                <a:off x="2872506" y="990249"/>
                <a:ext cx="1188000" cy="1188000"/>
              </a:xfrm>
              <a:prstGeom prst="ellipse">
                <a:avLst/>
              </a:prstGeom>
              <a:solidFill>
                <a:srgbClr val="F0AE4E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3485949" y="984231"/>
                <a:ext cx="1188000" cy="1188000"/>
              </a:xfrm>
              <a:prstGeom prst="ellipse">
                <a:avLst/>
              </a:prstGeom>
              <a:solidFill>
                <a:srgbClr val="F0AE4E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9" name="Google Shape;109;p2"/>
              <p:cNvGrpSpPr/>
              <p:nvPr/>
            </p:nvGrpSpPr>
            <p:grpSpPr>
              <a:xfrm>
                <a:off x="3495226" y="1158210"/>
                <a:ext cx="553948" cy="862979"/>
                <a:chOff x="3495226" y="1158210"/>
                <a:chExt cx="553948" cy="862979"/>
              </a:xfrm>
            </p:grpSpPr>
            <p:cxnSp>
              <p:nvCxnSpPr>
                <p:cNvPr id="110" name="Google Shape;110;p2"/>
                <p:cNvCxnSpPr>
                  <a:stCxn id="108" idx="1"/>
                </p:cNvCxnSpPr>
                <p:nvPr/>
              </p:nvCxnSpPr>
              <p:spPr>
                <a:xfrm>
                  <a:off x="3659928" y="1158210"/>
                  <a:ext cx="334200" cy="16260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rgbClr val="E61A0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1" name="Google Shape;111;p2"/>
                <p:cNvCxnSpPr/>
                <p:nvPr/>
              </p:nvCxnSpPr>
              <p:spPr>
                <a:xfrm>
                  <a:off x="3572270" y="1289749"/>
                  <a:ext cx="476904" cy="216626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rgbClr val="E61A0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2" name="Google Shape;112;p2"/>
                <p:cNvCxnSpPr/>
                <p:nvPr/>
              </p:nvCxnSpPr>
              <p:spPr>
                <a:xfrm>
                  <a:off x="3508320" y="1416883"/>
                  <a:ext cx="540854" cy="246972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rgbClr val="E61A0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3" name="Google Shape;113;p2"/>
                <p:cNvCxnSpPr/>
                <p:nvPr/>
              </p:nvCxnSpPr>
              <p:spPr>
                <a:xfrm>
                  <a:off x="3495226" y="1553486"/>
                  <a:ext cx="523095" cy="243002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rgbClr val="E61A0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4" name="Google Shape;114;p2"/>
                <p:cNvCxnSpPr/>
                <p:nvPr/>
              </p:nvCxnSpPr>
              <p:spPr>
                <a:xfrm>
                  <a:off x="3495226" y="1698083"/>
                  <a:ext cx="448097" cy="221015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rgbClr val="E61A0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5" name="Google Shape;115;p2"/>
                <p:cNvCxnSpPr/>
                <p:nvPr/>
              </p:nvCxnSpPr>
              <p:spPr>
                <a:xfrm>
                  <a:off x="3559383" y="1867286"/>
                  <a:ext cx="289974" cy="153903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rgbClr val="E61A0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16" name="Google Shape;116;p2"/>
            <p:cNvSpPr txBox="1"/>
            <p:nvPr/>
          </p:nvSpPr>
          <p:spPr>
            <a:xfrm>
              <a:off x="6910720" y="2140032"/>
              <a:ext cx="887347" cy="404614"/>
            </a:xfrm>
            <a:prstGeom prst="rect">
              <a:avLst/>
            </a:prstGeom>
            <a:solidFill>
              <a:srgbClr val="F0AE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資訊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4393933" y="2140032"/>
              <a:ext cx="887347" cy="404614"/>
            </a:xfrm>
            <a:prstGeom prst="rect">
              <a:avLst/>
            </a:prstGeom>
            <a:solidFill>
              <a:srgbClr val="F0AE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交通</a:t>
              </a:r>
              <a:endParaRPr/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2858790" y="5132071"/>
            <a:ext cx="6554333" cy="577991"/>
            <a:chOff x="1756547" y="4701151"/>
            <a:chExt cx="6554333" cy="577991"/>
          </a:xfrm>
        </p:grpSpPr>
        <p:sp>
          <p:nvSpPr>
            <p:cNvPr id="119" name="Google Shape;119;p2"/>
            <p:cNvSpPr/>
            <p:nvPr/>
          </p:nvSpPr>
          <p:spPr>
            <a:xfrm>
              <a:off x="1756547" y="4701151"/>
              <a:ext cx="6554333" cy="577991"/>
            </a:xfrm>
            <a:prstGeom prst="parallelogram">
              <a:avLst>
                <a:gd fmla="val 25000" name="adj"/>
              </a:avLst>
            </a:prstGeom>
            <a:solidFill>
              <a:srgbClr val="D91F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960596" y="4728536"/>
              <a:ext cx="6146234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目標族群：50-65歲居住於偏鄉之民眾</a:t>
              </a:r>
              <a:endParaRPr/>
            </a:p>
          </p:txBody>
        </p:sp>
      </p:grp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10339" r="10173" t="0"/>
          <a:stretch/>
        </p:blipFill>
        <p:spPr>
          <a:xfrm>
            <a:off x="1049398" y="2438758"/>
            <a:ext cx="2387146" cy="16892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title"/>
          </p:nvPr>
        </p:nvSpPr>
        <p:spPr>
          <a:xfrm>
            <a:off x="838200" y="55944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價值主張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6745965" y="2779190"/>
            <a:ext cx="3335459" cy="2788233"/>
          </a:xfrm>
          <a:prstGeom prst="roundRect">
            <a:avLst>
              <a:gd fmla="val 11686" name="adj"/>
            </a:avLst>
          </a:prstGeom>
          <a:noFill/>
          <a:ln cap="flat" cmpd="sng" w="38100">
            <a:solidFill>
              <a:srgbClr val="C6C2A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2110576" y="4065303"/>
            <a:ext cx="3514213" cy="1299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普及保險知識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提高金融可及性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提升鄉鎮保險覆蓋率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791371" y="4065303"/>
            <a:ext cx="3244646" cy="1299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實際回饋偏鄉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建立與當地居民連結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提高新光在地好感度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2770" y="3224395"/>
            <a:ext cx="701848" cy="684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31" name="Google Shape;131;p3"/>
          <p:cNvSpPr/>
          <p:nvPr/>
        </p:nvSpPr>
        <p:spPr>
          <a:xfrm>
            <a:off x="7500623" y="2474641"/>
            <a:ext cx="1826142" cy="584775"/>
          </a:xfrm>
          <a:prstGeom prst="rect">
            <a:avLst/>
          </a:prstGeom>
          <a:solidFill>
            <a:srgbClr val="C6C2A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深耕地方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2199953" y="2779190"/>
            <a:ext cx="3335459" cy="2788233"/>
          </a:xfrm>
          <a:prstGeom prst="roundRect">
            <a:avLst>
              <a:gd fmla="val 10440" name="adj"/>
            </a:avLst>
          </a:prstGeom>
          <a:noFill/>
          <a:ln cap="flat" cmpd="sng" w="38100">
            <a:solidFill>
              <a:srgbClr val="C6C2A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2954611" y="2474641"/>
            <a:ext cx="1826142" cy="584775"/>
          </a:xfrm>
          <a:prstGeom prst="rect">
            <a:avLst/>
          </a:prstGeom>
          <a:solidFill>
            <a:srgbClr val="C6C2A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普惠金融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9682" y="3188395"/>
            <a:ext cx="756000" cy="756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>
            <p:ph type="title"/>
          </p:nvPr>
        </p:nvSpPr>
        <p:spPr>
          <a:xfrm>
            <a:off x="838200" y="476648"/>
            <a:ext cx="1014984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新光移動概念店</a:t>
            </a:r>
            <a:endParaRPr/>
          </a:p>
        </p:txBody>
      </p:sp>
      <p:sp>
        <p:nvSpPr>
          <p:cNvPr id="140" name="Google Shape;140;p4"/>
          <p:cNvSpPr txBox="1"/>
          <p:nvPr>
            <p:ph idx="1" type="body"/>
          </p:nvPr>
        </p:nvSpPr>
        <p:spPr>
          <a:xfrm>
            <a:off x="-3589806" y="-1641009"/>
            <a:ext cx="10515600" cy="1798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送禮(解憂雜貨店)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故事牆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懷舊氛圍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79383" y="7337420"/>
            <a:ext cx="7876984" cy="2868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"/>
          <p:cNvPicPr preferRelativeResize="0"/>
          <p:nvPr/>
        </p:nvPicPr>
        <p:blipFill rotWithShape="1">
          <a:blip r:embed="rId4">
            <a:alphaModFix/>
          </a:blip>
          <a:srcRect b="12405" l="13707" r="0" t="6414"/>
          <a:stretch/>
        </p:blipFill>
        <p:spPr>
          <a:xfrm>
            <a:off x="2207393" y="1882925"/>
            <a:ext cx="7009418" cy="4582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4"/>
          <p:cNvGrpSpPr/>
          <p:nvPr/>
        </p:nvGrpSpPr>
        <p:grpSpPr>
          <a:xfrm>
            <a:off x="699665" y="4378015"/>
            <a:ext cx="2334035" cy="1734409"/>
            <a:chOff x="9043173" y="4625861"/>
            <a:chExt cx="2334035" cy="1734409"/>
          </a:xfrm>
        </p:grpSpPr>
        <p:sp>
          <p:nvSpPr>
            <p:cNvPr id="144" name="Google Shape;144;p4"/>
            <p:cNvSpPr/>
            <p:nvPr/>
          </p:nvSpPr>
          <p:spPr>
            <a:xfrm>
              <a:off x="9043173" y="4625861"/>
              <a:ext cx="2334035" cy="1734409"/>
            </a:xfrm>
            <a:prstGeom prst="rect">
              <a:avLst/>
            </a:prstGeom>
            <a:solidFill>
              <a:srgbClr val="928C6F">
                <a:alpha val="2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" name="Google Shape;145;p4"/>
            <p:cNvGrpSpPr/>
            <p:nvPr/>
          </p:nvGrpSpPr>
          <p:grpSpPr>
            <a:xfrm>
              <a:off x="9291325" y="4897683"/>
              <a:ext cx="1805940" cy="1085994"/>
              <a:chOff x="8125703" y="4151578"/>
              <a:chExt cx="1805940" cy="1085994"/>
            </a:xfrm>
          </p:grpSpPr>
          <p:sp>
            <p:nvSpPr>
              <p:cNvPr id="146" name="Google Shape;146;p4"/>
              <p:cNvSpPr/>
              <p:nvPr/>
            </p:nvSpPr>
            <p:spPr>
              <a:xfrm>
                <a:off x="8320787" y="4151578"/>
                <a:ext cx="1415772" cy="3581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紀念小物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8125703" y="4557561"/>
                <a:ext cx="1805940" cy="6800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</a:pPr>
                <a:r>
                  <a:rPr lang="zh-TW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情境菜單</a:t>
                </a:r>
                <a:endParaRPr/>
              </a:p>
              <a:p>
                <a:pPr indent="-342900" lvl="0" marL="34290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</a:pPr>
                <a:r>
                  <a:rPr lang="zh-TW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保單健檢券</a:t>
                </a:r>
                <a:endParaRPr/>
              </a:p>
            </p:txBody>
          </p:sp>
        </p:grpSp>
      </p:grpSp>
      <p:grpSp>
        <p:nvGrpSpPr>
          <p:cNvPr id="148" name="Google Shape;148;p4"/>
          <p:cNvGrpSpPr/>
          <p:nvPr/>
        </p:nvGrpSpPr>
        <p:grpSpPr>
          <a:xfrm>
            <a:off x="8084823" y="1729863"/>
            <a:ext cx="2808000" cy="2086610"/>
            <a:chOff x="8476611" y="1729863"/>
            <a:chExt cx="2808000" cy="2086610"/>
          </a:xfrm>
        </p:grpSpPr>
        <p:sp>
          <p:nvSpPr>
            <p:cNvPr id="149" name="Google Shape;149;p4"/>
            <p:cNvSpPr/>
            <p:nvPr/>
          </p:nvSpPr>
          <p:spPr>
            <a:xfrm>
              <a:off x="8476611" y="1729863"/>
              <a:ext cx="2808000" cy="2086610"/>
            </a:xfrm>
            <a:prstGeom prst="rect">
              <a:avLst/>
            </a:prstGeom>
            <a:solidFill>
              <a:srgbClr val="928C6F">
                <a:alpha val="2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0" name="Google Shape;150;p4"/>
            <p:cNvGrpSpPr/>
            <p:nvPr/>
          </p:nvGrpSpPr>
          <p:grpSpPr>
            <a:xfrm>
              <a:off x="8809367" y="1917232"/>
              <a:ext cx="2142489" cy="1729065"/>
              <a:chOff x="8809367" y="1917232"/>
              <a:chExt cx="2142489" cy="1729065"/>
            </a:xfrm>
          </p:grpSpPr>
          <p:sp>
            <p:nvSpPr>
              <p:cNvPr id="151" name="Google Shape;151;p4"/>
              <p:cNvSpPr/>
              <p:nvPr/>
            </p:nvSpPr>
            <p:spPr>
              <a:xfrm>
                <a:off x="9326613" y="1917232"/>
                <a:ext cx="110799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故事牆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09367" y="2359470"/>
                <a:ext cx="2142489" cy="1286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</a:pPr>
                <a:r>
                  <a:rPr lang="zh-TW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情境體驗</a:t>
                </a:r>
                <a:endParaRPr/>
              </a:p>
              <a:p>
                <a:pPr indent="-342900" lvl="0" marL="34290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</a:pPr>
                <a:r>
                  <a:rPr lang="zh-TW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帶入保險觀念</a:t>
                </a:r>
                <a:endParaRPr/>
              </a:p>
              <a:p>
                <a:pPr indent="-342900" lvl="0" marL="34290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</a:pPr>
                <a:r>
                  <a:rPr lang="zh-TW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險種介紹</a:t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3" name="Google Shape;153;p4"/>
          <p:cNvGrpSpPr/>
          <p:nvPr/>
        </p:nvGrpSpPr>
        <p:grpSpPr>
          <a:xfrm>
            <a:off x="693591" y="1729863"/>
            <a:ext cx="2808000" cy="2086610"/>
            <a:chOff x="666703" y="1835821"/>
            <a:chExt cx="2808000" cy="2086610"/>
          </a:xfrm>
        </p:grpSpPr>
        <p:sp>
          <p:nvSpPr>
            <p:cNvPr id="154" name="Google Shape;154;p4"/>
            <p:cNvSpPr/>
            <p:nvPr/>
          </p:nvSpPr>
          <p:spPr>
            <a:xfrm>
              <a:off x="666703" y="1835821"/>
              <a:ext cx="2808000" cy="2086610"/>
            </a:xfrm>
            <a:prstGeom prst="rect">
              <a:avLst/>
            </a:prstGeom>
            <a:solidFill>
              <a:srgbClr val="928C6F">
                <a:alpha val="2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5" name="Google Shape;155;p4"/>
            <p:cNvGrpSpPr/>
            <p:nvPr/>
          </p:nvGrpSpPr>
          <p:grpSpPr>
            <a:xfrm>
              <a:off x="809937" y="2029182"/>
              <a:ext cx="2521533" cy="1699889"/>
              <a:chOff x="677793" y="2585915"/>
              <a:chExt cx="2521533" cy="1699889"/>
            </a:xfrm>
          </p:grpSpPr>
          <p:sp>
            <p:nvSpPr>
              <p:cNvPr id="156" name="Google Shape;156;p4"/>
              <p:cNvSpPr/>
              <p:nvPr/>
            </p:nvSpPr>
            <p:spPr>
              <a:xfrm>
                <a:off x="1305461" y="2585915"/>
                <a:ext cx="1266197" cy="412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懷舊氛圍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677793" y="2998977"/>
                <a:ext cx="2521533" cy="1286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</a:pPr>
                <a:r>
                  <a:rPr lang="zh-TW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童玩</a:t>
                </a:r>
                <a:endParaRPr/>
              </a:p>
              <a:p>
                <a:pPr indent="-342900" lvl="0" marL="34290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</a:pPr>
                <a:r>
                  <a:rPr lang="zh-TW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復古看板</a:t>
                </a:r>
                <a:endParaRPr/>
              </a:p>
              <a:p>
                <a:pPr indent="-342900" lvl="0" marL="34290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</a:pPr>
                <a:r>
                  <a:rPr lang="zh-TW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與居民建立共感</a:t>
                </a:r>
                <a:endParaRPr/>
              </a:p>
            </p:txBody>
          </p:sp>
        </p:grpSp>
      </p:grpSp>
      <p:grpSp>
        <p:nvGrpSpPr>
          <p:cNvPr id="158" name="Google Shape;158;p4"/>
          <p:cNvGrpSpPr/>
          <p:nvPr/>
        </p:nvGrpSpPr>
        <p:grpSpPr>
          <a:xfrm>
            <a:off x="9137908" y="4374125"/>
            <a:ext cx="2334035" cy="1734409"/>
            <a:chOff x="9043173" y="4625861"/>
            <a:chExt cx="2334035" cy="1734409"/>
          </a:xfrm>
        </p:grpSpPr>
        <p:sp>
          <p:nvSpPr>
            <p:cNvPr id="159" name="Google Shape;159;p4"/>
            <p:cNvSpPr/>
            <p:nvPr/>
          </p:nvSpPr>
          <p:spPr>
            <a:xfrm>
              <a:off x="9043173" y="4625861"/>
              <a:ext cx="2334035" cy="1734409"/>
            </a:xfrm>
            <a:prstGeom prst="rect">
              <a:avLst/>
            </a:prstGeom>
            <a:solidFill>
              <a:srgbClr val="928C6F">
                <a:alpha val="2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0" name="Google Shape;160;p4"/>
            <p:cNvGrpSpPr/>
            <p:nvPr/>
          </p:nvGrpSpPr>
          <p:grpSpPr>
            <a:xfrm>
              <a:off x="9291325" y="4897683"/>
              <a:ext cx="1805940" cy="1282441"/>
              <a:chOff x="8125703" y="4151578"/>
              <a:chExt cx="1805940" cy="1282441"/>
            </a:xfrm>
          </p:grpSpPr>
          <p:sp>
            <p:nvSpPr>
              <p:cNvPr id="161" name="Google Shape;161;p4"/>
              <p:cNvSpPr/>
              <p:nvPr/>
            </p:nvSpPr>
            <p:spPr>
              <a:xfrm>
                <a:off x="8320787" y="4151578"/>
                <a:ext cx="141577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專業諮詢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>
                <a:off x="8125703" y="4557561"/>
                <a:ext cx="1805940" cy="876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</a:pPr>
                <a:r>
                  <a:rPr lang="zh-TW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保單健檢</a:t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42900" lvl="0" marL="34290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</a:pPr>
                <a:r>
                  <a:rPr lang="zh-TW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無壓力服務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title"/>
          </p:nvPr>
        </p:nvSpPr>
        <p:spPr>
          <a:xfrm>
            <a:off x="4170000" y="227964"/>
            <a:ext cx="3852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LINE線上行銷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6229337" y="7660817"/>
            <a:ext cx="1116000" cy="461665"/>
          </a:xfrm>
          <a:prstGeom prst="rect">
            <a:avLst/>
          </a:prstGeom>
          <a:solidFill>
            <a:srgbClr val="7C775E"/>
          </a:solidFill>
          <a:ln cap="flat" cmpd="sng" w="9525">
            <a:solidFill>
              <a:srgbClr val="7C77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AF8EE"/>
                </a:solidFill>
                <a:latin typeface="Arial"/>
                <a:ea typeface="Arial"/>
                <a:cs typeface="Arial"/>
                <a:sym typeface="Arial"/>
              </a:rPr>
              <a:t>抽獎券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13142564" y="5692330"/>
            <a:ext cx="2711943" cy="830997"/>
          </a:xfrm>
          <a:prstGeom prst="rect">
            <a:avLst/>
          </a:prstGeom>
          <a:solidFill>
            <a:srgbClr val="7C775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AF8EE"/>
                </a:solidFill>
                <a:latin typeface="Arial"/>
                <a:ea typeface="Arial"/>
                <a:cs typeface="Arial"/>
                <a:sym typeface="Arial"/>
              </a:rPr>
              <a:t>吸引人潮</a:t>
            </a:r>
            <a:endParaRPr sz="2400">
              <a:solidFill>
                <a:srgbClr val="FAF8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AF8EE"/>
                </a:solidFill>
                <a:latin typeface="Arial"/>
                <a:ea typeface="Arial"/>
                <a:cs typeface="Arial"/>
                <a:sym typeface="Arial"/>
              </a:rPr>
              <a:t>擴大官方帳號客群</a:t>
            </a:r>
            <a:endParaRPr/>
          </a:p>
        </p:txBody>
      </p:sp>
      <p:grpSp>
        <p:nvGrpSpPr>
          <p:cNvPr id="170" name="Google Shape;170;p5"/>
          <p:cNvGrpSpPr/>
          <p:nvPr/>
        </p:nvGrpSpPr>
        <p:grpSpPr>
          <a:xfrm>
            <a:off x="13165186" y="1348676"/>
            <a:ext cx="2973270" cy="1551284"/>
            <a:chOff x="-4053839" y="159269"/>
            <a:chExt cx="5791362" cy="3021603"/>
          </a:xfrm>
        </p:grpSpPr>
        <p:pic>
          <p:nvPicPr>
            <p:cNvPr id="171" name="Google Shape;171;p5"/>
            <p:cNvPicPr preferRelativeResize="0"/>
            <p:nvPr/>
          </p:nvPicPr>
          <p:blipFill rotWithShape="1">
            <a:blip r:embed="rId3">
              <a:alphaModFix/>
            </a:blip>
            <a:srcRect b="0" l="20129" r="60884" t="0"/>
            <a:stretch/>
          </p:blipFill>
          <p:spPr>
            <a:xfrm>
              <a:off x="-4053839" y="203582"/>
              <a:ext cx="1848737" cy="29772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5"/>
            <p:cNvPicPr preferRelativeResize="0"/>
            <p:nvPr/>
          </p:nvPicPr>
          <p:blipFill rotWithShape="1">
            <a:blip r:embed="rId4">
              <a:alphaModFix/>
            </a:blip>
            <a:srcRect b="0" l="40509" r="40661" t="0"/>
            <a:stretch/>
          </p:blipFill>
          <p:spPr>
            <a:xfrm>
              <a:off x="-2084594" y="203582"/>
              <a:ext cx="1833531" cy="29772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5"/>
            <p:cNvPicPr preferRelativeResize="0"/>
            <p:nvPr/>
          </p:nvPicPr>
          <p:blipFill rotWithShape="1">
            <a:blip r:embed="rId5">
              <a:alphaModFix/>
            </a:blip>
            <a:srcRect b="0" l="60615" r="20402" t="0"/>
            <a:stretch/>
          </p:blipFill>
          <p:spPr>
            <a:xfrm>
              <a:off x="-130554" y="159269"/>
              <a:ext cx="1868077" cy="30088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4" name="Google Shape;17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3462491" y="4775456"/>
            <a:ext cx="2200582" cy="22482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5"/>
          <p:cNvGrpSpPr/>
          <p:nvPr/>
        </p:nvGrpSpPr>
        <p:grpSpPr>
          <a:xfrm>
            <a:off x="-2588580" y="2899960"/>
            <a:ext cx="856178" cy="856178"/>
            <a:chOff x="-4831080" y="1193566"/>
            <a:chExt cx="1094688" cy="1094688"/>
          </a:xfrm>
        </p:grpSpPr>
        <p:sp>
          <p:nvSpPr>
            <p:cNvPr id="176" name="Google Shape;176;p5"/>
            <p:cNvSpPr/>
            <p:nvPr/>
          </p:nvSpPr>
          <p:spPr>
            <a:xfrm>
              <a:off x="-4831080" y="1193566"/>
              <a:ext cx="1094688" cy="1094688"/>
            </a:xfrm>
            <a:prstGeom prst="ellipse">
              <a:avLst/>
            </a:prstGeom>
            <a:solidFill>
              <a:srgbClr val="7C775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7" name="Google Shape;177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-4749807" y="1274839"/>
              <a:ext cx="932142" cy="9321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5"/>
          <p:cNvGrpSpPr/>
          <p:nvPr/>
        </p:nvGrpSpPr>
        <p:grpSpPr>
          <a:xfrm>
            <a:off x="12868470" y="-1418856"/>
            <a:ext cx="2491706" cy="1418855"/>
            <a:chOff x="7353334" y="2013908"/>
            <a:chExt cx="2780306" cy="1583193"/>
          </a:xfrm>
        </p:grpSpPr>
        <p:pic>
          <p:nvPicPr>
            <p:cNvPr id="179" name="Google Shape;179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550446" y="2013908"/>
              <a:ext cx="1583194" cy="15831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353334" y="2013908"/>
              <a:ext cx="1583193" cy="15831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5"/>
          <p:cNvSpPr txBox="1"/>
          <p:nvPr/>
        </p:nvSpPr>
        <p:spPr>
          <a:xfrm>
            <a:off x="2024201" y="8728055"/>
            <a:ext cx="2016000" cy="461665"/>
          </a:xfrm>
          <a:prstGeom prst="rect">
            <a:avLst/>
          </a:prstGeom>
          <a:solidFill>
            <a:srgbClr val="7C775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AF8EE"/>
                </a:solidFill>
                <a:latin typeface="Arial"/>
                <a:ea typeface="Arial"/>
                <a:cs typeface="Arial"/>
                <a:sym typeface="Arial"/>
              </a:rPr>
              <a:t>官方帳號遊戲</a:t>
            </a:r>
            <a:endParaRPr/>
          </a:p>
        </p:txBody>
      </p:sp>
      <p:pic>
        <p:nvPicPr>
          <p:cNvPr id="182" name="Google Shape;18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094536" y="3692572"/>
            <a:ext cx="1404000" cy="14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 txBox="1"/>
          <p:nvPr/>
        </p:nvSpPr>
        <p:spPr>
          <a:xfrm>
            <a:off x="4749676" y="7664257"/>
            <a:ext cx="1404000" cy="461665"/>
          </a:xfrm>
          <a:prstGeom prst="rect">
            <a:avLst/>
          </a:prstGeom>
          <a:solidFill>
            <a:srgbClr val="7C775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AF8EE"/>
                </a:solidFill>
                <a:latin typeface="Arial"/>
                <a:ea typeface="Arial"/>
                <a:cs typeface="Arial"/>
                <a:sym typeface="Arial"/>
              </a:rPr>
              <a:t>分享好友</a:t>
            </a:r>
            <a:endParaRPr/>
          </a:p>
        </p:txBody>
      </p:sp>
      <p:pic>
        <p:nvPicPr>
          <p:cNvPr id="184" name="Google Shape;184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-4390248" y="-1395608"/>
            <a:ext cx="2657846" cy="2791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"/>
          <p:cNvPicPr preferRelativeResize="0"/>
          <p:nvPr/>
        </p:nvPicPr>
        <p:blipFill rotWithShape="1">
          <a:blip r:embed="rId12">
            <a:alphaModFix/>
          </a:blip>
          <a:srcRect b="0" l="7342" r="6792" t="0"/>
          <a:stretch/>
        </p:blipFill>
        <p:spPr>
          <a:xfrm>
            <a:off x="6334282" y="2282370"/>
            <a:ext cx="4003717" cy="262269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186" name="Google Shape;186;p5"/>
          <p:cNvGrpSpPr/>
          <p:nvPr/>
        </p:nvGrpSpPr>
        <p:grpSpPr>
          <a:xfrm>
            <a:off x="-10238429" y="7372451"/>
            <a:ext cx="4024301" cy="2711208"/>
            <a:chOff x="6153676" y="1497601"/>
            <a:chExt cx="4024301" cy="2711208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6153676" y="1497601"/>
              <a:ext cx="4024301" cy="2711208"/>
              <a:chOff x="6382813" y="1479313"/>
              <a:chExt cx="3251057" cy="2190266"/>
            </a:xfrm>
          </p:grpSpPr>
          <p:sp>
            <p:nvSpPr>
              <p:cNvPr id="188" name="Google Shape;188;p5"/>
              <p:cNvSpPr/>
              <p:nvPr/>
            </p:nvSpPr>
            <p:spPr>
              <a:xfrm>
                <a:off x="6382813" y="1824826"/>
                <a:ext cx="3250677" cy="1844753"/>
              </a:xfrm>
              <a:prstGeom prst="rect">
                <a:avLst/>
              </a:prstGeom>
              <a:solidFill>
                <a:srgbClr val="8CABD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89" name="Google Shape;189;p5"/>
              <p:cNvPicPr preferRelativeResize="0"/>
              <p:nvPr/>
            </p:nvPicPr>
            <p:blipFill rotWithShape="1">
              <a:blip r:embed="rId13">
                <a:alphaModFix/>
              </a:blip>
              <a:srcRect b="90701" l="0" r="0" t="3546"/>
              <a:stretch/>
            </p:blipFill>
            <p:spPr>
              <a:xfrm>
                <a:off x="6382813" y="1479313"/>
                <a:ext cx="3251057" cy="4157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0" name="Google Shape;190;p5"/>
              <p:cNvPicPr preferRelativeResize="0"/>
              <p:nvPr/>
            </p:nvPicPr>
            <p:blipFill rotWithShape="1">
              <a:blip r:embed="rId14">
                <a:alphaModFix/>
              </a:blip>
              <a:srcRect b="91616" l="15978" r="43027" t="4221"/>
              <a:stretch/>
            </p:blipFill>
            <p:spPr>
              <a:xfrm>
                <a:off x="6927060" y="1541712"/>
                <a:ext cx="1264876" cy="285508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91" name="Google Shape;191;p5"/>
              <p:cNvGrpSpPr/>
              <p:nvPr/>
            </p:nvGrpSpPr>
            <p:grpSpPr>
              <a:xfrm flipH="1">
                <a:off x="7025431" y="2029157"/>
                <a:ext cx="2323959" cy="327199"/>
                <a:chOff x="6260425" y="3630491"/>
                <a:chExt cx="1652009" cy="1840861"/>
              </a:xfrm>
            </p:grpSpPr>
            <p:sp>
              <p:nvSpPr>
                <p:cNvPr id="192" name="Google Shape;192;p5"/>
                <p:cNvSpPr/>
                <p:nvPr/>
              </p:nvSpPr>
              <p:spPr>
                <a:xfrm>
                  <a:off x="6260425" y="3630491"/>
                  <a:ext cx="1652009" cy="1840861"/>
                </a:xfrm>
                <a:prstGeom prst="roundRect">
                  <a:avLst>
                    <a:gd fmla="val 28736" name="adj"/>
                  </a:avLst>
                </a:prstGeom>
                <a:solidFill>
                  <a:srgbClr val="B2ED8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5"/>
                <p:cNvSpPr/>
                <p:nvPr/>
              </p:nvSpPr>
              <p:spPr>
                <a:xfrm>
                  <a:off x="6309176" y="3652771"/>
                  <a:ext cx="1007268" cy="1751300"/>
                </a:xfrm>
                <a:prstGeom prst="wedgeRoundRectCallout">
                  <a:avLst>
                    <a:gd fmla="val -63230" name="adj1"/>
                    <a:gd fmla="val -31068" name="adj2"/>
                    <a:gd fmla="val 16667" name="adj3"/>
                  </a:avLst>
                </a:prstGeom>
                <a:solidFill>
                  <a:srgbClr val="B2ED8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4" name="Google Shape;194;p5"/>
              <p:cNvSpPr/>
              <p:nvPr/>
            </p:nvSpPr>
            <p:spPr>
              <a:xfrm>
                <a:off x="6831544" y="2457562"/>
                <a:ext cx="1666592" cy="1101766"/>
              </a:xfrm>
              <a:prstGeom prst="roundRect">
                <a:avLst>
                  <a:gd fmla="val 6379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6831543" y="2635908"/>
                <a:ext cx="688720" cy="437763"/>
              </a:xfrm>
              <a:prstGeom prst="wedgeRoundRectCallout">
                <a:avLst>
                  <a:gd fmla="val -63230" name="adj1"/>
                  <a:gd fmla="val -31068" name="adj2"/>
                  <a:gd fmla="val 16667" name="adj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6" name="Google Shape;196;p5"/>
              <p:cNvGrpSpPr/>
              <p:nvPr/>
            </p:nvGrpSpPr>
            <p:grpSpPr>
              <a:xfrm>
                <a:off x="6457345" y="2551488"/>
                <a:ext cx="252000" cy="252000"/>
                <a:chOff x="5532233" y="479104"/>
                <a:chExt cx="892322" cy="892322"/>
              </a:xfrm>
            </p:grpSpPr>
            <p:sp>
              <p:nvSpPr>
                <p:cNvPr id="197" name="Google Shape;197;p5"/>
                <p:cNvSpPr/>
                <p:nvPr/>
              </p:nvSpPr>
              <p:spPr>
                <a:xfrm>
                  <a:off x="5532233" y="479104"/>
                  <a:ext cx="892322" cy="892322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198" name="Google Shape;198;p5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628428" y="795486"/>
                  <a:ext cx="699932" cy="2595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199" name="Google Shape;199;p5"/>
            <p:cNvSpPr txBox="1"/>
            <p:nvPr/>
          </p:nvSpPr>
          <p:spPr>
            <a:xfrm>
              <a:off x="6784507" y="2735516"/>
              <a:ext cx="1967205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您好，我們有：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AutoNum type="arabicPeriod"/>
              </a:pPr>
              <a:r>
                <a:rPr lang="zh-TW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業務員地圖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AutoNum type="arabicPeriod"/>
              </a:pPr>
              <a:r>
                <a:rPr lang="zh-TW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針對式推播訊息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AutoNum type="arabicPeriod"/>
              </a:pPr>
              <a:r>
                <a:rPr lang="zh-TW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依客戶喜好分群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AutoNum type="arabicPeriod"/>
              </a:pPr>
              <a:r>
                <a:rPr lang="zh-TW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業務員諮詢系統</a:t>
              </a:r>
              <a:endParaRPr/>
            </a:p>
          </p:txBody>
        </p:sp>
        <p:sp>
          <p:nvSpPr>
            <p:cNvPr id="200" name="Google Shape;200;p5"/>
            <p:cNvSpPr txBox="1"/>
            <p:nvPr/>
          </p:nvSpPr>
          <p:spPr>
            <a:xfrm>
              <a:off x="6931317" y="2217550"/>
              <a:ext cx="28328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嗨～請問你們提供哪些服務呢？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5"/>
          <p:cNvSpPr txBox="1"/>
          <p:nvPr/>
        </p:nvSpPr>
        <p:spPr>
          <a:xfrm>
            <a:off x="6229337" y="1648200"/>
            <a:ext cx="2800767" cy="4922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業務員地圖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遊戲持續性行銷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依客戶性質分群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針對式推播訊息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277026" y="1515915"/>
            <a:ext cx="2944207" cy="52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382201" y="6042173"/>
            <a:ext cx="1484157" cy="337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/>
          <p:nvPr>
            <p:ph type="title"/>
          </p:nvPr>
        </p:nvSpPr>
        <p:spPr>
          <a:xfrm>
            <a:off x="4044000" y="365125"/>
            <a:ext cx="4104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綠色聚「保」盆</a:t>
            </a:r>
            <a:endParaRPr/>
          </a:p>
        </p:txBody>
      </p:sp>
      <p:pic>
        <p:nvPicPr>
          <p:cNvPr id="209" name="Google Shape;2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6578" y="-5752483"/>
            <a:ext cx="5326664" cy="3054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011492" y="-2150560"/>
            <a:ext cx="7687748" cy="1810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6"/>
          <p:cNvGrpSpPr/>
          <p:nvPr/>
        </p:nvGrpSpPr>
        <p:grpSpPr>
          <a:xfrm>
            <a:off x="-3481652" y="6858000"/>
            <a:ext cx="4990500" cy="4325770"/>
            <a:chOff x="1245267" y="1820227"/>
            <a:chExt cx="4990500" cy="4325770"/>
          </a:xfrm>
        </p:grpSpPr>
        <p:sp>
          <p:nvSpPr>
            <p:cNvPr id="212" name="Google Shape;212;p6"/>
            <p:cNvSpPr/>
            <p:nvPr/>
          </p:nvSpPr>
          <p:spPr>
            <a:xfrm>
              <a:off x="4641204" y="3841223"/>
              <a:ext cx="1594563" cy="1594563"/>
            </a:xfrm>
            <a:prstGeom prst="ellipse">
              <a:avLst/>
            </a:prstGeom>
            <a:solidFill>
              <a:srgbClr val="E8C4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" name="Google Shape;213;p6"/>
            <p:cNvGrpSpPr/>
            <p:nvPr/>
          </p:nvGrpSpPr>
          <p:grpSpPr>
            <a:xfrm>
              <a:off x="1245267" y="1820227"/>
              <a:ext cx="4868576" cy="4325770"/>
              <a:chOff x="1105498" y="1690689"/>
              <a:chExt cx="5014372" cy="4455308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2589146" y="1690689"/>
                <a:ext cx="1594563" cy="1594563"/>
              </a:xfrm>
              <a:custGeom>
                <a:rect b="b" l="l" r="r" t="t"/>
                <a:pathLst>
                  <a:path extrusionOk="0" h="1685941" w="1685941">
                    <a:moveTo>
                      <a:pt x="0" y="842971"/>
                    </a:moveTo>
                    <a:cubicBezTo>
                      <a:pt x="0" y="377411"/>
                      <a:pt x="377411" y="0"/>
                      <a:pt x="842971" y="0"/>
                    </a:cubicBezTo>
                    <a:cubicBezTo>
                      <a:pt x="1308531" y="0"/>
                      <a:pt x="1685942" y="377411"/>
                      <a:pt x="1685942" y="842971"/>
                    </a:cubicBezTo>
                    <a:cubicBezTo>
                      <a:pt x="1685942" y="1308531"/>
                      <a:pt x="1308531" y="1685942"/>
                      <a:pt x="842971" y="1685942"/>
                    </a:cubicBezTo>
                    <a:cubicBezTo>
                      <a:pt x="377411" y="1685942"/>
                      <a:pt x="0" y="1308531"/>
                      <a:pt x="0" y="842971"/>
                    </a:cubicBezTo>
                    <a:close/>
                  </a:path>
                </a:pathLst>
              </a:custGeom>
              <a:solidFill>
                <a:srgbClr val="C6C2AF"/>
              </a:solidFill>
              <a:ln>
                <a:noFill/>
              </a:ln>
            </p:spPr>
            <p:txBody>
              <a:bodyPr anchorCtr="0" anchor="ctr" bIns="282450" lIns="282450" spcFirstLastPara="1" rIns="282450" wrap="square" tIns="2824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rPr lang="zh-TW" sz="2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社區</a:t>
                </a:r>
                <a:endParaRPr/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 rot="3600000">
                <a:off x="3835676" y="3523999"/>
                <a:ext cx="852795" cy="296625"/>
              </a:xfrm>
              <a:prstGeom prst="leftArrow">
                <a:avLst>
                  <a:gd fmla="val 50000" name="adj1"/>
                  <a:gd fmla="val 50000" name="adj2"/>
                </a:avLst>
              </a:prstGeom>
              <a:solidFill>
                <a:srgbClr val="C6C2AF"/>
              </a:solidFill>
              <a:ln>
                <a:noFill/>
              </a:ln>
            </p:spPr>
            <p:txBody>
              <a:bodyPr anchorCtr="0" anchor="ctr" bIns="97450" lIns="0" spcFirstLastPara="1" rIns="146175" wrap="square" tIns="974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2924817" y="4827282"/>
                <a:ext cx="849092" cy="296624"/>
              </a:xfrm>
              <a:prstGeom prst="leftRightArrow">
                <a:avLst>
                  <a:gd fmla="val 50000" name="adj1"/>
                  <a:gd fmla="val 50000" name="adj2"/>
                </a:avLst>
              </a:prstGeom>
              <a:solidFill>
                <a:srgbClr val="E8C48E"/>
              </a:solidFill>
              <a:ln>
                <a:noFill/>
              </a:ln>
            </p:spPr>
            <p:txBody>
              <a:bodyPr anchorCtr="0" anchor="ctr" bIns="97450" lIns="146175" spcFirstLastPara="1" rIns="0" wrap="square" tIns="974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1105498" y="4260441"/>
                <a:ext cx="1594563" cy="1594563"/>
              </a:xfrm>
              <a:custGeom>
                <a:rect b="b" l="l" r="r" t="t"/>
                <a:pathLst>
                  <a:path extrusionOk="0" h="1685941" w="1685941">
                    <a:moveTo>
                      <a:pt x="0" y="842971"/>
                    </a:moveTo>
                    <a:cubicBezTo>
                      <a:pt x="0" y="377411"/>
                      <a:pt x="377411" y="0"/>
                      <a:pt x="842971" y="0"/>
                    </a:cubicBezTo>
                    <a:cubicBezTo>
                      <a:pt x="1308531" y="0"/>
                      <a:pt x="1685942" y="377411"/>
                      <a:pt x="1685942" y="842971"/>
                    </a:cubicBezTo>
                    <a:cubicBezTo>
                      <a:pt x="1685942" y="1308531"/>
                      <a:pt x="1308531" y="1685942"/>
                      <a:pt x="842971" y="1685942"/>
                    </a:cubicBezTo>
                    <a:cubicBezTo>
                      <a:pt x="377411" y="1685942"/>
                      <a:pt x="0" y="1308531"/>
                      <a:pt x="0" y="842971"/>
                    </a:cubicBezTo>
                    <a:close/>
                  </a:path>
                </a:pathLst>
              </a:custGeom>
              <a:solidFill>
                <a:srgbClr val="E68A7D"/>
              </a:solidFill>
              <a:ln>
                <a:noFill/>
              </a:ln>
            </p:spPr>
            <p:txBody>
              <a:bodyPr anchorCtr="0" anchor="ctr" bIns="282450" lIns="282450" spcFirstLastPara="1" rIns="282450" wrap="square" tIns="2824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rPr lang="zh-TW" sz="2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新光</a:t>
                </a: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98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rPr lang="zh-TW" sz="2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人壽</a:t>
                </a: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 rot="-3600000">
                <a:off x="2098680" y="3525108"/>
                <a:ext cx="849091" cy="370781"/>
              </a:xfrm>
              <a:prstGeom prst="leftRightArrow">
                <a:avLst>
                  <a:gd fmla="val 50000" name="adj1"/>
                  <a:gd fmla="val 50000" name="adj2"/>
                </a:avLst>
              </a:prstGeom>
              <a:solidFill>
                <a:srgbClr val="E68A7D"/>
              </a:solidFill>
              <a:ln>
                <a:noFill/>
              </a:ln>
            </p:spPr>
            <p:txBody>
              <a:bodyPr anchorCtr="0" anchor="ctr" bIns="97450" lIns="0" spcFirstLastPara="1" rIns="146175" wrap="square" tIns="974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3917332" y="4551434"/>
                <a:ext cx="1594563" cy="1594563"/>
              </a:xfrm>
              <a:custGeom>
                <a:rect b="b" l="l" r="r" t="t"/>
                <a:pathLst>
                  <a:path extrusionOk="0" h="1685941" w="1685941">
                    <a:moveTo>
                      <a:pt x="0" y="842971"/>
                    </a:moveTo>
                    <a:cubicBezTo>
                      <a:pt x="0" y="377411"/>
                      <a:pt x="377411" y="0"/>
                      <a:pt x="842971" y="0"/>
                    </a:cubicBezTo>
                    <a:cubicBezTo>
                      <a:pt x="1308531" y="0"/>
                      <a:pt x="1685942" y="377411"/>
                      <a:pt x="1685942" y="842971"/>
                    </a:cubicBezTo>
                    <a:cubicBezTo>
                      <a:pt x="1685942" y="1308531"/>
                      <a:pt x="1308531" y="1685942"/>
                      <a:pt x="842971" y="1685942"/>
                    </a:cubicBezTo>
                    <a:cubicBezTo>
                      <a:pt x="377411" y="1685942"/>
                      <a:pt x="0" y="1308531"/>
                      <a:pt x="0" y="842971"/>
                    </a:cubicBezTo>
                    <a:close/>
                  </a:path>
                </a:pathLst>
              </a:custGeom>
              <a:solidFill>
                <a:srgbClr val="E8C48E"/>
              </a:solidFill>
              <a:ln>
                <a:noFill/>
              </a:ln>
            </p:spPr>
            <p:txBody>
              <a:bodyPr anchorCtr="0" anchor="ctr" bIns="282450" lIns="282450" spcFirstLastPara="1" rIns="282450" wrap="square" tIns="2824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700"/>
                  <a:buFont typeface="Calibri"/>
                  <a:buNone/>
                </a:pPr>
                <a:r>
                  <a:t/>
                </a:r>
                <a:endParaRPr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6"/>
              <p:cNvSpPr txBox="1"/>
              <p:nvPr/>
            </p:nvSpPr>
            <p:spPr>
              <a:xfrm>
                <a:off x="1323878" y="3048362"/>
                <a:ext cx="930280" cy="538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800">
                    <a:solidFill>
                      <a:srgbClr val="D94733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rPr>
                  <a:t>連結</a:t>
                </a:r>
                <a:endParaRPr/>
              </a:p>
            </p:txBody>
          </p:sp>
          <p:sp>
            <p:nvSpPr>
              <p:cNvPr id="221" name="Google Shape;221;p6"/>
              <p:cNvSpPr txBox="1"/>
              <p:nvPr/>
            </p:nvSpPr>
            <p:spPr>
              <a:xfrm>
                <a:off x="4747000" y="3048362"/>
                <a:ext cx="93028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800">
                    <a:solidFill>
                      <a:srgbClr val="8B8463"/>
                    </a:solidFill>
                    <a:latin typeface="Arial"/>
                    <a:ea typeface="Arial"/>
                    <a:cs typeface="Arial"/>
                    <a:sym typeface="Arial"/>
                  </a:rPr>
                  <a:t>幫助</a:t>
                </a:r>
                <a:endParaRPr/>
              </a:p>
            </p:txBody>
          </p:sp>
          <p:sp>
            <p:nvSpPr>
              <p:cNvPr id="222" name="Google Shape;222;p6"/>
              <p:cNvSpPr txBox="1"/>
              <p:nvPr/>
            </p:nvSpPr>
            <p:spPr>
              <a:xfrm>
                <a:off x="2924817" y="5596735"/>
                <a:ext cx="93028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800">
                    <a:solidFill>
                      <a:srgbClr val="D4872A"/>
                    </a:solidFill>
                    <a:latin typeface="Arial"/>
                    <a:ea typeface="Arial"/>
                    <a:cs typeface="Arial"/>
                    <a:sym typeface="Arial"/>
                  </a:rPr>
                  <a:t>合作</a:t>
                </a:r>
                <a:endParaRPr/>
              </a:p>
            </p:txBody>
          </p:sp>
          <p:sp>
            <p:nvSpPr>
              <p:cNvPr id="223" name="Google Shape;223;p6"/>
              <p:cNvSpPr txBox="1"/>
              <p:nvPr/>
            </p:nvSpPr>
            <p:spPr>
              <a:xfrm>
                <a:off x="4749149" y="4027652"/>
                <a:ext cx="1370721" cy="1127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550" lIns="35550" spcFirstLastPara="1" rIns="35550" wrap="square" tIns="355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700"/>
                  <a:buFont typeface="Arial"/>
                  <a:buNone/>
                </a:pPr>
                <a:r>
                  <a:rPr lang="zh-TW" sz="27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基金會</a:t>
                </a:r>
                <a:endParaRPr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4102819" y="5148181"/>
                <a:ext cx="1223413" cy="4662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7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環保局</a:t>
                </a:r>
                <a:endParaRPr/>
              </a:p>
            </p:txBody>
          </p:sp>
        </p:grpSp>
      </p:grpSp>
      <p:pic>
        <p:nvPicPr>
          <p:cNvPr id="225" name="Google Shape;22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16002" y="76605"/>
            <a:ext cx="4467849" cy="381053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6"/>
          <p:cNvSpPr/>
          <p:nvPr/>
        </p:nvSpPr>
        <p:spPr>
          <a:xfrm>
            <a:off x="7040880" y="2488539"/>
            <a:ext cx="3396989" cy="648000"/>
          </a:xfrm>
          <a:prstGeom prst="parallelogram">
            <a:avLst>
              <a:gd fmla="val 25000" name="adj"/>
            </a:avLst>
          </a:prstGeom>
          <a:solidFill>
            <a:srgbClr val="C7E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#ESG-永續城鄉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7040880" y="3596665"/>
            <a:ext cx="3396989" cy="648000"/>
          </a:xfrm>
          <a:prstGeom prst="parallelogram">
            <a:avLst>
              <a:gd fmla="val 25000" name="adj"/>
            </a:avLst>
          </a:prstGeom>
          <a:solidFill>
            <a:srgbClr val="C7E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#地方深耕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7040880" y="4764058"/>
            <a:ext cx="3396989" cy="648000"/>
          </a:xfrm>
          <a:prstGeom prst="parallelogram">
            <a:avLst>
              <a:gd fmla="val 25000" name="adj"/>
            </a:avLst>
          </a:prstGeom>
          <a:solidFill>
            <a:srgbClr val="C7E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#品牌形象</a:t>
            </a:r>
            <a:endParaRPr/>
          </a:p>
        </p:txBody>
      </p:sp>
      <p:grpSp>
        <p:nvGrpSpPr>
          <p:cNvPr id="229" name="Google Shape;229;p6"/>
          <p:cNvGrpSpPr/>
          <p:nvPr/>
        </p:nvGrpSpPr>
        <p:grpSpPr>
          <a:xfrm>
            <a:off x="1530045" y="1726125"/>
            <a:ext cx="5059982" cy="4822744"/>
            <a:chOff x="1575765" y="1726125"/>
            <a:chExt cx="5059982" cy="4822744"/>
          </a:xfrm>
        </p:grpSpPr>
        <p:sp>
          <p:nvSpPr>
            <p:cNvPr id="230" name="Google Shape;230;p6"/>
            <p:cNvSpPr txBox="1"/>
            <p:nvPr/>
          </p:nvSpPr>
          <p:spPr>
            <a:xfrm>
              <a:off x="1575765" y="2949304"/>
              <a:ext cx="9372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連結</a:t>
              </a:r>
              <a:endParaRPr/>
            </a:p>
          </p:txBody>
        </p:sp>
        <p:grpSp>
          <p:nvGrpSpPr>
            <p:cNvPr id="231" name="Google Shape;231;p6"/>
            <p:cNvGrpSpPr/>
            <p:nvPr/>
          </p:nvGrpSpPr>
          <p:grpSpPr>
            <a:xfrm>
              <a:off x="1871831" y="1726125"/>
              <a:ext cx="4467849" cy="4822744"/>
              <a:chOff x="1871832" y="1726125"/>
              <a:chExt cx="4467849" cy="4822744"/>
            </a:xfrm>
          </p:grpSpPr>
          <p:pic>
            <p:nvPicPr>
              <p:cNvPr id="232" name="Google Shape;232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871832" y="1726125"/>
                <a:ext cx="4467849" cy="42524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3" name="Google Shape;233;p6"/>
              <p:cNvSpPr txBox="1"/>
              <p:nvPr/>
            </p:nvSpPr>
            <p:spPr>
              <a:xfrm>
                <a:off x="3637126" y="6087204"/>
                <a:ext cx="93726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合作</a:t>
                </a:r>
                <a:endParaRPr/>
              </a:p>
            </p:txBody>
          </p:sp>
        </p:grpSp>
        <p:sp>
          <p:nvSpPr>
            <p:cNvPr id="234" name="Google Shape;234;p6"/>
            <p:cNvSpPr txBox="1"/>
            <p:nvPr/>
          </p:nvSpPr>
          <p:spPr>
            <a:xfrm>
              <a:off x="5698487" y="2949304"/>
              <a:ext cx="9372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幫助</a:t>
              </a:r>
              <a:endParaRPr/>
            </a:p>
          </p:txBody>
        </p:sp>
      </p:grpSp>
      <p:sp>
        <p:nvSpPr>
          <p:cNvPr id="235" name="Google Shape;235;p6"/>
          <p:cNvSpPr/>
          <p:nvPr/>
        </p:nvSpPr>
        <p:spPr>
          <a:xfrm>
            <a:off x="3383280" y="3429000"/>
            <a:ext cx="1454096" cy="1353089"/>
          </a:xfrm>
          <a:prstGeom prst="rect">
            <a:avLst/>
          </a:prstGeom>
          <a:solidFill>
            <a:srgbClr val="FAF8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45601" y="3740886"/>
            <a:ext cx="1702022" cy="628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241;p7"/>
          <p:cNvCxnSpPr/>
          <p:nvPr/>
        </p:nvCxnSpPr>
        <p:spPr>
          <a:xfrm>
            <a:off x="518318" y="2126542"/>
            <a:ext cx="11307922" cy="0"/>
          </a:xfrm>
          <a:prstGeom prst="straightConnector1">
            <a:avLst/>
          </a:prstGeom>
          <a:noFill/>
          <a:ln cap="flat" cmpd="sng" w="44450">
            <a:solidFill>
              <a:srgbClr val="7F7F7F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242" name="Google Shape;242;p7"/>
          <p:cNvSpPr txBox="1"/>
          <p:nvPr>
            <p:ph type="title"/>
          </p:nvPr>
        </p:nvSpPr>
        <p:spPr>
          <a:xfrm>
            <a:off x="8382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專案整體流程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1714729" y="1895710"/>
            <a:ext cx="1415772" cy="461665"/>
          </a:xfrm>
          <a:prstGeom prst="rect">
            <a:avLst/>
          </a:prstGeom>
          <a:solidFill>
            <a:srgbClr val="7C775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線下活動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5570432" y="1895710"/>
            <a:ext cx="1415772" cy="461665"/>
          </a:xfrm>
          <a:prstGeom prst="rect">
            <a:avLst/>
          </a:prstGeom>
          <a:solidFill>
            <a:srgbClr val="DF8F2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線上推廣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9220561" y="1895710"/>
            <a:ext cx="1415772" cy="461665"/>
          </a:xfrm>
          <a:prstGeom prst="rect">
            <a:avLst/>
          </a:prstGeom>
          <a:solidFill>
            <a:srgbClr val="E73A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在地深耕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-1414349" y="3294082"/>
            <a:ext cx="856178" cy="856178"/>
          </a:xfrm>
          <a:prstGeom prst="ellipse">
            <a:avLst/>
          </a:prstGeom>
          <a:solidFill>
            <a:srgbClr val="7C77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462491" y="4775456"/>
            <a:ext cx="2200582" cy="22482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7"/>
          <p:cNvGrpSpPr/>
          <p:nvPr/>
        </p:nvGrpSpPr>
        <p:grpSpPr>
          <a:xfrm>
            <a:off x="946615" y="2835583"/>
            <a:ext cx="10454743" cy="3239337"/>
            <a:chOff x="946615" y="2530783"/>
            <a:chExt cx="10454743" cy="3239337"/>
          </a:xfrm>
        </p:grpSpPr>
        <p:sp>
          <p:nvSpPr>
            <p:cNvPr id="249" name="Google Shape;249;p7"/>
            <p:cNvSpPr/>
            <p:nvPr/>
          </p:nvSpPr>
          <p:spPr>
            <a:xfrm>
              <a:off x="946615" y="2823031"/>
              <a:ext cx="2875948" cy="1775840"/>
            </a:xfrm>
            <a:prstGeom prst="roundRect">
              <a:avLst>
                <a:gd fmla="val 6499" name="adj"/>
              </a:avLst>
            </a:prstGeom>
            <a:noFill/>
            <a:ln cap="flat" cmpd="sng" w="28575">
              <a:solidFill>
                <a:srgbClr val="C6C3A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1214589" y="2530783"/>
              <a:ext cx="2340000" cy="540000"/>
            </a:xfrm>
            <a:prstGeom prst="rect">
              <a:avLst/>
            </a:prstGeom>
            <a:solidFill>
              <a:srgbClr val="C6C3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新光移動概念店</a:t>
              </a: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1484589" y="2969779"/>
              <a:ext cx="1800000" cy="1680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45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柑仔店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5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故事牆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5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專業服務</a:t>
              </a: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1088619" y="5230120"/>
              <a:ext cx="2591940" cy="540000"/>
            </a:xfrm>
            <a:prstGeom prst="rect">
              <a:avLst/>
            </a:prstGeom>
            <a:solidFill>
              <a:srgbClr val="C6C3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縮短與TA距離</a:t>
              </a: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5055332" y="5230120"/>
              <a:ext cx="2307932" cy="540000"/>
            </a:xfrm>
            <a:prstGeom prst="rect">
              <a:avLst/>
            </a:prstGeom>
            <a:solidFill>
              <a:srgbClr val="E08F2E">
                <a:alpha val="56862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擴大觸及人數</a:t>
              </a:r>
              <a:endParaRPr/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8809418" y="5230120"/>
              <a:ext cx="2307932" cy="540000"/>
            </a:xfrm>
            <a:prstGeom prst="rect">
              <a:avLst/>
            </a:prstGeom>
            <a:solidFill>
              <a:srgbClr val="E72319">
                <a:alpha val="5725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基金會回饋</a:t>
              </a: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4736012" y="2823031"/>
              <a:ext cx="2875948" cy="1775840"/>
            </a:xfrm>
            <a:prstGeom prst="roundRect">
              <a:avLst>
                <a:gd fmla="val 6499" name="adj"/>
              </a:avLst>
            </a:prstGeom>
            <a:noFill/>
            <a:ln cap="flat" cmpd="sng" w="28575">
              <a:solidFill>
                <a:srgbClr val="EBBC8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EBBC8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7"/>
            <p:cNvGrpSpPr/>
            <p:nvPr/>
          </p:nvGrpSpPr>
          <p:grpSpPr>
            <a:xfrm>
              <a:off x="5105867" y="2530783"/>
              <a:ext cx="2182559" cy="540000"/>
              <a:chOff x="5102149" y="2323516"/>
              <a:chExt cx="2182559" cy="540000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5102628" y="2323516"/>
                <a:ext cx="2181600" cy="540000"/>
              </a:xfrm>
              <a:prstGeom prst="rect">
                <a:avLst/>
              </a:prstGeom>
              <a:solidFill>
                <a:srgbClr val="FAF8E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5102149" y="2323516"/>
                <a:ext cx="2182559" cy="540000"/>
              </a:xfrm>
              <a:prstGeom prst="rect">
                <a:avLst/>
              </a:prstGeom>
              <a:solidFill>
                <a:srgbClr val="E08F2E">
                  <a:alpha val="56862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LINE官方帳號</a:t>
                </a:r>
                <a:endParaRPr/>
              </a:p>
            </p:txBody>
          </p:sp>
        </p:grpSp>
        <p:sp>
          <p:nvSpPr>
            <p:cNvPr id="259" name="Google Shape;259;p7"/>
            <p:cNvSpPr/>
            <p:nvPr/>
          </p:nvSpPr>
          <p:spPr>
            <a:xfrm>
              <a:off x="5273986" y="2969779"/>
              <a:ext cx="1800000" cy="1680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45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業務員地圖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5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互動性遊戲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5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環保存錢筒</a:t>
              </a:r>
              <a:endParaRPr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8525410" y="2823031"/>
              <a:ext cx="2875948" cy="1775840"/>
            </a:xfrm>
            <a:prstGeom prst="roundRect">
              <a:avLst>
                <a:gd fmla="val 6499" name="adj"/>
              </a:avLst>
            </a:prstGeom>
            <a:noFill/>
            <a:ln cap="flat" cmpd="sng" w="28575">
              <a:solidFill>
                <a:srgbClr val="EF7D7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EBBC8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" name="Google Shape;261;p7"/>
            <p:cNvGrpSpPr/>
            <p:nvPr/>
          </p:nvGrpSpPr>
          <p:grpSpPr>
            <a:xfrm>
              <a:off x="8722397" y="2530783"/>
              <a:ext cx="2481974" cy="540000"/>
              <a:chOff x="4929281" y="2323516"/>
              <a:chExt cx="2481974" cy="540000"/>
            </a:xfrm>
          </p:grpSpPr>
          <p:sp>
            <p:nvSpPr>
              <p:cNvPr id="262" name="Google Shape;262;p7"/>
              <p:cNvSpPr/>
              <p:nvPr/>
            </p:nvSpPr>
            <p:spPr>
              <a:xfrm>
                <a:off x="5126268" y="2323516"/>
                <a:ext cx="2088000" cy="540000"/>
              </a:xfrm>
              <a:prstGeom prst="rect">
                <a:avLst/>
              </a:prstGeom>
              <a:solidFill>
                <a:srgbClr val="FAF8E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>
                <a:off x="4929281" y="2323516"/>
                <a:ext cx="2481974" cy="540000"/>
              </a:xfrm>
              <a:prstGeom prst="rect">
                <a:avLst/>
              </a:prstGeom>
              <a:solidFill>
                <a:srgbClr val="EF7D7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綠色聚「保」盆</a:t>
                </a:r>
                <a:endParaRPr/>
              </a:p>
            </p:txBody>
          </p:sp>
        </p:grpSp>
        <p:sp>
          <p:nvSpPr>
            <p:cNvPr id="264" name="Google Shape;264;p7"/>
            <p:cNvSpPr/>
            <p:nvPr/>
          </p:nvSpPr>
          <p:spPr>
            <a:xfrm>
              <a:off x="9063384" y="2969779"/>
              <a:ext cx="1800000" cy="1680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45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保費折價券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45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回收點數</a:t>
              </a: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 flipH="1" rot="10800000">
              <a:off x="2183251" y="4737075"/>
              <a:ext cx="402677" cy="347135"/>
            </a:xfrm>
            <a:prstGeom prst="triangle">
              <a:avLst>
                <a:gd fmla="val 50000" name="adj"/>
              </a:avLst>
            </a:prstGeom>
            <a:solidFill>
              <a:srgbClr val="C6C3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 flipH="1" rot="10800000">
              <a:off x="5972647" y="4737075"/>
              <a:ext cx="402677" cy="347135"/>
            </a:xfrm>
            <a:prstGeom prst="triangle">
              <a:avLst>
                <a:gd fmla="val 50000" name="adj"/>
              </a:avLst>
            </a:prstGeom>
            <a:solidFill>
              <a:srgbClr val="EBBC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 flipH="1" rot="10800000">
              <a:off x="9762043" y="4737075"/>
              <a:ext cx="402677" cy="347135"/>
            </a:xfrm>
            <a:prstGeom prst="triangle">
              <a:avLst>
                <a:gd fmla="val 50000" name="adj"/>
              </a:avLst>
            </a:prstGeom>
            <a:solidFill>
              <a:srgbClr val="EF7D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68" name="Google Shape;268;p7"/>
          <p:cNvCxnSpPr/>
          <p:nvPr/>
        </p:nvCxnSpPr>
        <p:spPr>
          <a:xfrm flipH="1">
            <a:off x="7076646" y="4394601"/>
            <a:ext cx="2146575" cy="177900"/>
          </a:xfrm>
          <a:prstGeom prst="straightConnector1">
            <a:avLst/>
          </a:prstGeom>
          <a:noFill/>
          <a:ln cap="flat" cmpd="sng" w="34925">
            <a:solidFill>
              <a:srgbClr val="7F7F7F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269" name="Google Shape;269;p7"/>
          <p:cNvCxnSpPr/>
          <p:nvPr/>
        </p:nvCxnSpPr>
        <p:spPr>
          <a:xfrm>
            <a:off x="7076645" y="4764779"/>
            <a:ext cx="1645752" cy="718328"/>
          </a:xfrm>
          <a:prstGeom prst="straightConnector1">
            <a:avLst/>
          </a:prstGeom>
          <a:noFill/>
          <a:ln cap="flat" cmpd="sng" w="34925">
            <a:solidFill>
              <a:srgbClr val="7F7F7F"/>
            </a:solidFill>
            <a:prstDash val="solid"/>
            <a:miter lim="800000"/>
            <a:headEnd len="sm" w="sm" type="none"/>
            <a:tailEnd len="lg" w="lg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 txBox="1"/>
          <p:nvPr>
            <p:ph type="title"/>
          </p:nvPr>
        </p:nvSpPr>
        <p:spPr>
          <a:xfrm>
            <a:off x="1300050" y="9269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短中長期實作規劃</a:t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1901199" y="7093574"/>
            <a:ext cx="648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304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觸及人數：預計一場活動可觸及600人，一個月內辦理20次活動；</a:t>
            </a:r>
            <a:br>
              <a:rPr lang="zh-TW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折價券計算公式：觸及人數＊0.05（轉換率） ＊ 3837（1%折扣）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獲利：觸及人數＊0.05（轉換率）＊14910</a:t>
            </a:r>
            <a:r>
              <a:rPr lang="zh-TW" sz="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（醫療險平均年保費）</a:t>
            </a:r>
            <a:endParaRPr sz="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" name="Google Shape;276;p8"/>
          <p:cNvGrpSpPr/>
          <p:nvPr/>
        </p:nvGrpSpPr>
        <p:grpSpPr>
          <a:xfrm>
            <a:off x="2306309" y="1911418"/>
            <a:ext cx="7965451" cy="1394178"/>
            <a:chOff x="2306309" y="1850458"/>
            <a:chExt cx="7965451" cy="1394178"/>
          </a:xfrm>
        </p:grpSpPr>
        <p:sp>
          <p:nvSpPr>
            <p:cNvPr id="277" name="Google Shape;277;p8"/>
            <p:cNvSpPr/>
            <p:nvPr/>
          </p:nvSpPr>
          <p:spPr>
            <a:xfrm rot="5400000">
              <a:off x="2157911" y="1998867"/>
              <a:ext cx="1394178" cy="1097360"/>
            </a:xfrm>
            <a:prstGeom prst="chevron">
              <a:avLst>
                <a:gd fmla="val 29631" name="adj"/>
              </a:avLst>
            </a:prstGeom>
            <a:solidFill>
              <a:srgbClr val="C7E3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8"/>
            <p:cNvSpPr txBox="1"/>
            <p:nvPr/>
          </p:nvSpPr>
          <p:spPr>
            <a:xfrm>
              <a:off x="2306309" y="2175600"/>
              <a:ext cx="1097360" cy="743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短期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3802499" y="2030867"/>
              <a:ext cx="6469261" cy="103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91C8E3"/>
                </a:buClr>
                <a:buSzPts val="2340"/>
                <a:buFont typeface="Arial"/>
                <a:buChar char="•"/>
              </a:pPr>
              <a:r>
                <a:rPr lang="zh-TW" sz="18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線上行銷</a:t>
              </a:r>
              <a:r>
                <a:rPr lang="zh-TW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移動概念店資訊，提前吸引當地民眾</a:t>
              </a:r>
              <a:endParaRPr/>
            </a:p>
            <a:p>
              <a:pPr indent="-285750" lvl="0" marL="28575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91C8E3"/>
                </a:buClr>
                <a:buSzPts val="2340"/>
                <a:buFont typeface="Arial"/>
                <a:buChar char="•"/>
              </a:pPr>
              <a:r>
                <a:rPr lang="zh-TW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租用一台車至某個鄉鎮初步推行企劃（ex.苗栗縣通霄鎮）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91C8E3"/>
                </a:buClr>
                <a:buSzPts val="2340"/>
                <a:buFont typeface="Arial"/>
                <a:buChar char="•"/>
              </a:pPr>
              <a:r>
                <a:rPr lang="zh-TW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上架LINE官方帳號新功能，提供使用者嶄新體驗</a:t>
              </a:r>
              <a:endParaRPr/>
            </a:p>
          </p:txBody>
        </p:sp>
      </p:grpSp>
      <p:grpSp>
        <p:nvGrpSpPr>
          <p:cNvPr id="280" name="Google Shape;280;p8"/>
          <p:cNvGrpSpPr/>
          <p:nvPr/>
        </p:nvGrpSpPr>
        <p:grpSpPr>
          <a:xfrm>
            <a:off x="2316559" y="3326389"/>
            <a:ext cx="6776641" cy="1394178"/>
            <a:chOff x="2316559" y="3265429"/>
            <a:chExt cx="6776641" cy="1394178"/>
          </a:xfrm>
        </p:grpSpPr>
        <p:sp>
          <p:nvSpPr>
            <p:cNvPr id="281" name="Google Shape;281;p8"/>
            <p:cNvSpPr/>
            <p:nvPr/>
          </p:nvSpPr>
          <p:spPr>
            <a:xfrm>
              <a:off x="3802499" y="3445837"/>
              <a:ext cx="5290701" cy="103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3091C2"/>
                </a:buClr>
                <a:buSzPts val="2340"/>
                <a:buFont typeface="Arial"/>
                <a:buChar char="•"/>
              </a:pPr>
              <a:r>
                <a:rPr lang="zh-TW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引入「綠色聚保盆」活動，加深與在地居民連結</a:t>
              </a:r>
              <a:endParaRPr/>
            </a:p>
            <a:p>
              <a:pPr indent="-285750" lvl="0" marL="28575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3091C2"/>
                </a:buClr>
                <a:buSzPts val="2340"/>
                <a:buFont typeface="Arial"/>
                <a:buChar char="•"/>
              </a:pPr>
              <a:r>
                <a:rPr lang="zh-TW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搜集使用者回饋，持續優化LINE官方帳號</a:t>
              </a:r>
              <a:endParaRPr/>
            </a:p>
            <a:p>
              <a:pPr indent="-285750" lvl="0" marL="28575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3091C2"/>
                </a:buClr>
                <a:buSzPts val="2340"/>
                <a:buFont typeface="Arial"/>
                <a:buChar char="•"/>
              </a:pPr>
              <a:r>
                <a:rPr lang="zh-TW" sz="18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擴大試驗地區</a:t>
              </a:r>
              <a:r>
                <a:rPr lang="zh-TW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，持續開拓未觸及市場</a:t>
              </a: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 rot="5400000">
              <a:off x="2168151" y="3413838"/>
              <a:ext cx="1394178" cy="1097360"/>
            </a:xfrm>
            <a:prstGeom prst="chevron">
              <a:avLst>
                <a:gd fmla="val 29631" name="adj"/>
              </a:avLst>
            </a:prstGeom>
            <a:solidFill>
              <a:srgbClr val="76BA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8"/>
            <p:cNvSpPr txBox="1"/>
            <p:nvPr/>
          </p:nvSpPr>
          <p:spPr>
            <a:xfrm>
              <a:off x="2316559" y="3590575"/>
              <a:ext cx="1097360" cy="743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中期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p8"/>
          <p:cNvGrpSpPr/>
          <p:nvPr/>
        </p:nvGrpSpPr>
        <p:grpSpPr>
          <a:xfrm>
            <a:off x="2316559" y="4741361"/>
            <a:ext cx="7386241" cy="1394178"/>
            <a:chOff x="2316559" y="4680401"/>
            <a:chExt cx="7386241" cy="1394178"/>
          </a:xfrm>
        </p:grpSpPr>
        <p:sp>
          <p:nvSpPr>
            <p:cNvPr id="285" name="Google Shape;285;p8"/>
            <p:cNvSpPr/>
            <p:nvPr/>
          </p:nvSpPr>
          <p:spPr>
            <a:xfrm>
              <a:off x="3802499" y="4860810"/>
              <a:ext cx="5900301" cy="103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257197"/>
                </a:buClr>
                <a:buSzPts val="2340"/>
                <a:buFont typeface="Arial"/>
                <a:buChar char="•"/>
              </a:pPr>
              <a:r>
                <a:rPr lang="zh-TW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將光譜計畫進行規模化，使永續商業模式在全台普及</a:t>
              </a:r>
              <a:endParaRPr/>
            </a:p>
            <a:p>
              <a:pPr indent="-285750" lvl="0" marL="28575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257197"/>
                </a:buClr>
                <a:buSzPts val="2340"/>
                <a:buFont typeface="Arial"/>
                <a:buChar char="•"/>
              </a:pPr>
              <a:r>
                <a:rPr lang="zh-TW" sz="18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拍攝地方創生紀錄片</a:t>
              </a:r>
              <a:r>
                <a:rPr lang="zh-TW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，擴大行銷客群</a:t>
              </a:r>
              <a:endParaRPr/>
            </a:p>
            <a:p>
              <a:pPr indent="-285750" lvl="0" marL="28575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257197"/>
                </a:buClr>
                <a:buSzPts val="2340"/>
                <a:buFont typeface="Arial"/>
                <a:buChar char="•"/>
              </a:pPr>
              <a:r>
                <a:rPr lang="zh-TW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引入關懷計畫，讓新光在地方落地生根</a:t>
              </a: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 rot="5400000">
              <a:off x="2168152" y="4828810"/>
              <a:ext cx="1394178" cy="1097360"/>
            </a:xfrm>
            <a:prstGeom prst="chevron">
              <a:avLst>
                <a:gd fmla="val 29631" name="adj"/>
              </a:avLst>
            </a:prstGeom>
            <a:solidFill>
              <a:srgbClr val="2571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8"/>
            <p:cNvSpPr txBox="1"/>
            <p:nvPr/>
          </p:nvSpPr>
          <p:spPr>
            <a:xfrm>
              <a:off x="2316559" y="5005550"/>
              <a:ext cx="1097360" cy="743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長期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"/>
          <p:cNvSpPr txBox="1"/>
          <p:nvPr>
            <p:ph type="title"/>
          </p:nvPr>
        </p:nvSpPr>
        <p:spPr>
          <a:xfrm>
            <a:off x="838200" y="45656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成本效益分析</a:t>
            </a:r>
            <a:endParaRPr/>
          </a:p>
        </p:txBody>
      </p:sp>
      <p:sp>
        <p:nvSpPr>
          <p:cNvPr id="293" name="Google Shape;293;p9"/>
          <p:cNvSpPr txBox="1"/>
          <p:nvPr/>
        </p:nvSpPr>
        <p:spPr>
          <a:xfrm>
            <a:off x="1917766" y="1657023"/>
            <a:ext cx="216655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執行成本</a:t>
            </a: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-180340" y="5149931"/>
            <a:ext cx="12552680" cy="1403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以</a:t>
            </a:r>
            <a:r>
              <a:rPr lang="zh-TW" sz="2400">
                <a:solidFill>
                  <a:srgbClr val="E71A0F"/>
                </a:solidFill>
                <a:latin typeface="Arial"/>
                <a:ea typeface="Arial"/>
                <a:cs typeface="Arial"/>
                <a:sym typeface="Arial"/>
              </a:rPr>
              <a:t>950萬</a:t>
            </a:r>
            <a:r>
              <a:rPr lang="zh-TW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的月成本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🡺帶來</a:t>
            </a:r>
            <a:r>
              <a:rPr lang="zh-TW" sz="2400">
                <a:solidFill>
                  <a:srgbClr val="E71A0F"/>
                </a:solidFill>
                <a:latin typeface="Arial"/>
                <a:ea typeface="Arial"/>
                <a:cs typeface="Arial"/>
                <a:sym typeface="Arial"/>
              </a:rPr>
              <a:t>4160萬</a:t>
            </a: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月</a:t>
            </a:r>
            <a:r>
              <a:rPr lang="zh-TW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保費收入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🡺預計觸及超過</a:t>
            </a:r>
            <a:r>
              <a:rPr lang="zh-TW" sz="2400">
                <a:solidFill>
                  <a:srgbClr val="E71A0F"/>
                </a:solidFill>
                <a:latin typeface="Arial"/>
                <a:ea typeface="Arial"/>
                <a:cs typeface="Arial"/>
                <a:sym typeface="Arial"/>
              </a:rPr>
              <a:t>12萬位偏鄉民眾</a:t>
            </a:r>
            <a:endParaRPr sz="24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1901199" y="7093574"/>
            <a:ext cx="648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304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觸及人數：預計一場活動可觸及600人，一個月內辦理20次活動；</a:t>
            </a:r>
            <a:br>
              <a:rPr lang="zh-TW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折價券計算公式：觸及人數＊0.05（轉換率） ＊ 3837（1%折扣）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獲利：觸及人數＊0.05（轉換率）＊14910</a:t>
            </a:r>
            <a:r>
              <a:rPr lang="zh-TW" sz="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（醫療險平均年保費）</a:t>
            </a:r>
            <a:endParaRPr sz="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9"/>
          <p:cNvPicPr preferRelativeResize="0"/>
          <p:nvPr/>
        </p:nvPicPr>
        <p:blipFill rotWithShape="1">
          <a:blip r:embed="rId3">
            <a:alphaModFix/>
          </a:blip>
          <a:srcRect b="4951" l="20099" r="19471" t="4952"/>
          <a:stretch/>
        </p:blipFill>
        <p:spPr>
          <a:xfrm>
            <a:off x="4664170" y="1916599"/>
            <a:ext cx="2863661" cy="2903788"/>
          </a:xfrm>
          <a:prstGeom prst="ellipse">
            <a:avLst/>
          </a:prstGeom>
          <a:noFill/>
          <a:ln>
            <a:noFill/>
          </a:ln>
        </p:spPr>
      </p:pic>
      <p:sp>
        <p:nvSpPr>
          <p:cNvPr id="297" name="Google Shape;297;p9"/>
          <p:cNvSpPr txBox="1"/>
          <p:nvPr/>
        </p:nvSpPr>
        <p:spPr>
          <a:xfrm>
            <a:off x="7731216" y="2715175"/>
            <a:ext cx="207264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行政費用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350萬</a:t>
            </a:r>
            <a:endParaRPr/>
          </a:p>
        </p:txBody>
      </p:sp>
      <p:sp>
        <p:nvSpPr>
          <p:cNvPr id="298" name="Google Shape;298;p9"/>
          <p:cNvSpPr txBox="1"/>
          <p:nvPr/>
        </p:nvSpPr>
        <p:spPr>
          <a:xfrm>
            <a:off x="2388145" y="2403554"/>
            <a:ext cx="207264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開發費用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250萬</a:t>
            </a:r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2774481" y="4077762"/>
            <a:ext cx="207264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設備費用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150萬</a:t>
            </a:r>
            <a:endParaRPr/>
          </a:p>
        </p:txBody>
      </p:sp>
      <p:sp>
        <p:nvSpPr>
          <p:cNvPr id="300" name="Google Shape;300;p9"/>
          <p:cNvSpPr txBox="1"/>
          <p:nvPr/>
        </p:nvSpPr>
        <p:spPr>
          <a:xfrm>
            <a:off x="7344879" y="4227252"/>
            <a:ext cx="207264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行銷費用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200萬</a:t>
            </a:r>
            <a:endParaRPr/>
          </a:p>
        </p:txBody>
      </p:sp>
      <p:cxnSp>
        <p:nvCxnSpPr>
          <p:cNvPr id="301" name="Google Shape;301;p9"/>
          <p:cNvCxnSpPr/>
          <p:nvPr/>
        </p:nvCxnSpPr>
        <p:spPr>
          <a:xfrm>
            <a:off x="6934200" y="3036815"/>
            <a:ext cx="1021080" cy="93859"/>
          </a:xfrm>
          <a:prstGeom prst="straightConnector1">
            <a:avLst/>
          </a:prstGeom>
          <a:noFill/>
          <a:ln cap="flat" cmpd="sng" w="25400">
            <a:solidFill>
              <a:srgbClr val="62A0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2" name="Google Shape;302;p9"/>
          <p:cNvCxnSpPr/>
          <p:nvPr/>
        </p:nvCxnSpPr>
        <p:spPr>
          <a:xfrm rot="10800000">
            <a:off x="6444166" y="4546862"/>
            <a:ext cx="980068" cy="111112"/>
          </a:xfrm>
          <a:prstGeom prst="straightConnector1">
            <a:avLst/>
          </a:prstGeom>
          <a:noFill/>
          <a:ln cap="flat" cmpd="sng" w="25400">
            <a:solidFill>
              <a:srgbClr val="DF8F2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3" name="Google Shape;303;p9"/>
          <p:cNvCxnSpPr/>
          <p:nvPr/>
        </p:nvCxnSpPr>
        <p:spPr>
          <a:xfrm flipH="1" rot="10800000">
            <a:off x="4470222" y="3851851"/>
            <a:ext cx="670977" cy="249375"/>
          </a:xfrm>
          <a:prstGeom prst="straightConnector1">
            <a:avLst/>
          </a:prstGeom>
          <a:noFill/>
          <a:ln cap="flat" cmpd="sng" w="25400">
            <a:solidFill>
              <a:srgbClr val="928C6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4" name="Google Shape;304;p9"/>
          <p:cNvCxnSpPr/>
          <p:nvPr/>
        </p:nvCxnSpPr>
        <p:spPr>
          <a:xfrm>
            <a:off x="4166729" y="2819053"/>
            <a:ext cx="1091072" cy="6517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3609" y="1503679"/>
            <a:ext cx="4904783" cy="4904783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專案目標</a:t>
            </a:r>
            <a:endParaRPr/>
          </a:p>
        </p:txBody>
      </p:sp>
      <p:sp>
        <p:nvSpPr>
          <p:cNvPr id="311" name="Google Shape;311;p10"/>
          <p:cNvSpPr txBox="1"/>
          <p:nvPr/>
        </p:nvSpPr>
        <p:spPr>
          <a:xfrm>
            <a:off x="1355127" y="2290399"/>
            <a:ext cx="2246342" cy="6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無差別服務 </a:t>
            </a:r>
            <a:r>
              <a:rPr lang="zh-TW" sz="2800">
                <a:solidFill>
                  <a:srgbClr val="8CBAE5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/>
          </a:p>
        </p:txBody>
      </p:sp>
      <p:sp>
        <p:nvSpPr>
          <p:cNvPr id="312" name="Google Shape;312;p10"/>
          <p:cNvSpPr txBox="1"/>
          <p:nvPr/>
        </p:nvSpPr>
        <p:spPr>
          <a:xfrm>
            <a:off x="1622314" y="4427824"/>
            <a:ext cx="1979155" cy="678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地方深耕 </a:t>
            </a:r>
            <a:r>
              <a:rPr lang="zh-TW" sz="2800">
                <a:solidFill>
                  <a:srgbClr val="E6BA83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/>
          </a:p>
        </p:txBody>
      </p:sp>
      <p:sp>
        <p:nvSpPr>
          <p:cNvPr id="313" name="Google Shape;313;p10"/>
          <p:cNvSpPr txBox="1"/>
          <p:nvPr/>
        </p:nvSpPr>
        <p:spPr>
          <a:xfrm>
            <a:off x="8577645" y="2092145"/>
            <a:ext cx="2819399" cy="6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FF917D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zh-TW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永續商業模式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 txBox="1"/>
          <p:nvPr/>
        </p:nvSpPr>
        <p:spPr>
          <a:xfrm>
            <a:off x="8577645" y="4427824"/>
            <a:ext cx="1922715" cy="1306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7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實現企業   </a:t>
            </a:r>
            <a:br>
              <a:rPr lang="zh-TW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社會責任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10"/>
          <p:cNvPicPr preferRelativeResize="0"/>
          <p:nvPr/>
        </p:nvPicPr>
        <p:blipFill rotWithShape="1">
          <a:blip r:embed="rId4">
            <a:alphaModFix/>
          </a:blip>
          <a:srcRect b="39169" l="-1157" r="64319" t="-14690"/>
          <a:stretch/>
        </p:blipFill>
        <p:spPr>
          <a:xfrm>
            <a:off x="5464129" y="3614991"/>
            <a:ext cx="1304382" cy="6318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" name="Google Shape;316;p10"/>
          <p:cNvGrpSpPr/>
          <p:nvPr/>
        </p:nvGrpSpPr>
        <p:grpSpPr>
          <a:xfrm>
            <a:off x="8590531" y="4540172"/>
            <a:ext cx="250390" cy="1173218"/>
            <a:chOff x="11222854" y="3223436"/>
            <a:chExt cx="250390" cy="1173218"/>
          </a:xfrm>
        </p:grpSpPr>
        <p:sp>
          <p:nvSpPr>
            <p:cNvPr id="317" name="Google Shape;317;p10"/>
            <p:cNvSpPr/>
            <p:nvPr/>
          </p:nvSpPr>
          <p:spPr>
            <a:xfrm>
              <a:off x="11222854" y="3223436"/>
              <a:ext cx="2503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rgbClr val="C6C2A6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0"/>
            <p:cNvSpPr/>
            <p:nvPr/>
          </p:nvSpPr>
          <p:spPr>
            <a:xfrm>
              <a:off x="11222854" y="3451839"/>
              <a:ext cx="2503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rgbClr val="C6C2A6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0"/>
            <p:cNvSpPr/>
            <p:nvPr/>
          </p:nvSpPr>
          <p:spPr>
            <a:xfrm>
              <a:off x="11222854" y="3680242"/>
              <a:ext cx="2503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rgbClr val="C6C2A6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0"/>
            <p:cNvSpPr/>
            <p:nvPr/>
          </p:nvSpPr>
          <p:spPr>
            <a:xfrm>
              <a:off x="11222854" y="4027322"/>
              <a:ext cx="2503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rgbClr val="C6C2A6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0"/>
            <p:cNvSpPr/>
            <p:nvPr/>
          </p:nvSpPr>
          <p:spPr>
            <a:xfrm>
              <a:off x="11222854" y="3908645"/>
              <a:ext cx="2503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rgbClr val="C6C2A6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2022-03-23T07:36:57Z</dcterms:created>
  <dc:creator>陳庭妤</dc:creator>
</cp:coreProperties>
</file>